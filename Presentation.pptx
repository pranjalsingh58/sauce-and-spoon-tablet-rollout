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5" r:id="rId3"/>
    <p:sldId id="257" r:id="rId4"/>
    <p:sldId id="261" r:id="rId5"/>
    <p:sldId id="266" r:id="rId6"/>
    <p:sldId id="267" r:id="rId7"/>
    <p:sldId id="262" r:id="rId8"/>
    <p:sldId id="263" r:id="rId9"/>
    <p:sldId id="264" r:id="rId10"/>
    <p:sldId id="268" r:id="rId11"/>
    <p:sldId id="269" r:id="rId12"/>
    <p:sldId id="270" r:id="rId13"/>
    <p:sldId id="259" r:id="rId14"/>
    <p:sldId id="260" r:id="rId15"/>
    <p:sldId id="271" r:id="rId16"/>
    <p:sldId id="272" r:id="rId17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Segoe UI Black" panose="020B0A02040204020203" pitchFamily="3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182"/>
    <a:srgbClr val="00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Lacking</c:v>
                </c:pt>
                <c:pt idx="1">
                  <c:v>Mediocre</c:v>
                </c:pt>
                <c:pt idx="2">
                  <c:v>Neutral</c:v>
                </c:pt>
                <c:pt idx="3">
                  <c:v>Good</c:v>
                </c:pt>
                <c:pt idx="4">
                  <c:v>Great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20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076-A703-136BA1F60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7556207"/>
        <c:axId val="1720041807"/>
      </c:barChart>
      <c:catAx>
        <c:axId val="1717556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0041807"/>
        <c:crosses val="autoZero"/>
        <c:auto val="1"/>
        <c:lblAlgn val="ctr"/>
        <c:lblOffset val="100"/>
        <c:noMultiLvlLbl val="0"/>
      </c:catAx>
      <c:valAx>
        <c:axId val="1720041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Rating</a:t>
                </a:r>
              </a:p>
            </c:rich>
          </c:tx>
          <c:layout>
            <c:manualLayout>
              <c:xMode val="edge"/>
              <c:yMode val="edge"/>
              <c:x val="0"/>
              <c:y val="0.456486958661417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7556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tablet pilot launched at both locations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weekend before we ran a successful test run at one location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Hard work of many team members over the course of a few months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Now, let’s take a look at how successful it was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aca0fa4b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aca0fa4b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 made a list of evaluation questions around how we wanted to measure success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It included questions around tablet experience, satisfaction, visit length, if they experienced any technical issues, and more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 administered the survey by offering it on the tablet after they pay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381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904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ca0fa4ba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ca0fa4ba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noted that they were still waiting the usual time for their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noted that they were spending the same amount of time at the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 goal for the tablets was to decrease visit 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We’ll work with the GMs to speed up visit 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ca0fa4ba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ca0fa4ba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Guests noted that some of their tablets weren’t working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want to put a plan in place to check tablets at the beginning the night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also want to put a plan in place to swap out tablets immediately if that happens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5" name="Google Shape;55;p13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768420"/>
            <a:ext cx="8520600" cy="103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4000" b="1" dirty="0">
                <a:solidFill>
                  <a:srgbClr val="0C7182"/>
                </a:solidFill>
              </a:rPr>
              <a:t>Sauce &amp; Spoon Tablet Ordering Test Launch</a:t>
            </a:r>
            <a:endParaRPr sz="4000" b="1" dirty="0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140750" y="2571750"/>
            <a:ext cx="6862500" cy="2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6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Stakeholder Update Presentation</a:t>
            </a:r>
            <a:endParaRPr sz="3200" b="1" dirty="0">
              <a:solidFill>
                <a:schemeClr val="accent2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2B6B-D33B-B1E5-D92C-1EE9FEA0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Background &amp; Business Need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9E3C9-B1D7-E02B-DA5D-4EE819FCC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702023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Why did Sauce &amp; Spoon start this project?</a:t>
            </a: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Challenges:</a:t>
            </a:r>
          </a:p>
          <a:p>
            <a:pPr marL="114300" indent="0">
              <a:buNone/>
            </a:pPr>
            <a:endParaRPr lang="en-IN" dirty="0"/>
          </a:p>
          <a:p>
            <a:pPr lvl="0"/>
            <a:r>
              <a:rPr lang="en-IN" dirty="0"/>
              <a:t>Customers experienced waiting time during ordering </a:t>
            </a:r>
          </a:p>
          <a:p>
            <a:pPr lvl="0"/>
            <a:r>
              <a:rPr lang="en-IN" dirty="0"/>
              <a:t>Servers spent significant time taking orders </a:t>
            </a:r>
          </a:p>
          <a:p>
            <a:pPr lvl="0"/>
            <a:r>
              <a:rPr lang="en-IN" dirty="0"/>
              <a:t>Manual ordering increased chances of mistakes </a:t>
            </a:r>
          </a:p>
          <a:p>
            <a:pPr lvl="0"/>
            <a:endParaRPr lang="en-IN" dirty="0"/>
          </a:p>
          <a:p>
            <a:pPr marL="114300" indent="0">
              <a:buNone/>
            </a:pPr>
            <a:r>
              <a:rPr lang="en-IN" dirty="0"/>
              <a:t>Goal:</a:t>
            </a:r>
          </a:p>
          <a:p>
            <a:r>
              <a:rPr lang="en-IN" dirty="0"/>
              <a:t>Use technology to improve dining experience while supporting restaurant operations.</a:t>
            </a:r>
          </a:p>
          <a:p>
            <a:endParaRPr lang="en-IN" dirty="0"/>
          </a:p>
        </p:txBody>
      </p:sp>
      <p:grpSp>
        <p:nvGrpSpPr>
          <p:cNvPr id="4" name="Google Shape;54;p13">
            <a:extLst>
              <a:ext uri="{FF2B5EF4-FFF2-40B4-BE49-F238E27FC236}">
                <a16:creationId xmlns:a16="http://schemas.microsoft.com/office/drawing/2014/main" id="{E4F92FE0-3B5D-1C1D-112F-57F5AFA0BD7A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55;p13">
              <a:extLst>
                <a:ext uri="{FF2B5EF4-FFF2-40B4-BE49-F238E27FC236}">
                  <a16:creationId xmlns:a16="http://schemas.microsoft.com/office/drawing/2014/main" id="{FAB8022F-D6EF-EA38-24CC-B31DE7EB5529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;p13">
              <a:extLst>
                <a:ext uri="{FF2B5EF4-FFF2-40B4-BE49-F238E27FC236}">
                  <a16:creationId xmlns:a16="http://schemas.microsoft.com/office/drawing/2014/main" id="{4776C9D9-9ED3-EEE0-479B-ACDF7CE1A439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3496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65" name="Google Shape;65;p14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ctrTitle" idx="4294967295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Evaluation</a:t>
            </a:r>
            <a:endParaRPr sz="3200" b="1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Did we achieve our goals?</a:t>
            </a:r>
            <a:endParaRPr sz="23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Were customers satisfied?</a:t>
            </a:r>
            <a:endParaRPr sz="23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In order to evaluate the tablet launch, we asked guests to complete a survey on the tablet at the end of their visit.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54F9-095C-BF7B-FA23-CD5418D6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8187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C7182"/>
                </a:solidFill>
              </a:rPr>
              <a:t>"Our Biggest Competitor Wasn't Another Restaurant..."</a:t>
            </a:r>
            <a:br>
              <a:rPr lang="en-IN" dirty="0">
                <a:solidFill>
                  <a:srgbClr val="0C7182"/>
                </a:solidFill>
              </a:rPr>
            </a:br>
            <a:endParaRPr lang="en-IN" b="1" dirty="0">
              <a:solidFill>
                <a:srgbClr val="0C718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1C797-C9C9-1ABE-3BD5-D2459995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73305"/>
            <a:ext cx="8520600" cy="3416400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It was:</a:t>
            </a:r>
            <a:endParaRPr lang="en-IN" dirty="0"/>
          </a:p>
          <a:p>
            <a:pPr marL="114300" indent="0">
              <a:buNone/>
            </a:pPr>
            <a:r>
              <a:rPr lang="en-IN" dirty="0"/>
              <a:t>	⏳ Waiting time</a:t>
            </a:r>
            <a:br>
              <a:rPr lang="en-IN" dirty="0"/>
            </a:br>
            <a:r>
              <a:rPr lang="en-IN" dirty="0"/>
              <a:t>	❌ Order mistakes</a:t>
            </a:r>
            <a:br>
              <a:rPr lang="en-IN" dirty="0"/>
            </a:br>
            <a:r>
              <a:rPr lang="en-IN" dirty="0"/>
              <a:t>	😵 Confused customers</a:t>
            </a:r>
            <a:br>
              <a:rPr lang="en-IN" dirty="0"/>
            </a:br>
            <a:r>
              <a:rPr lang="en-IN" dirty="0"/>
              <a:t>	📋 Too many menu questions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Solution:</a:t>
            </a:r>
            <a:br>
              <a:rPr lang="en-IN" dirty="0"/>
            </a:br>
            <a:r>
              <a:rPr lang="en-IN" dirty="0"/>
              <a:t>A tablet that never gets tired of hearing:</a:t>
            </a:r>
          </a:p>
          <a:p>
            <a:pPr marL="114300" indent="0">
              <a:buNone/>
            </a:pPr>
            <a:r>
              <a:rPr lang="en-IN" dirty="0"/>
              <a:t>			</a:t>
            </a:r>
          </a:p>
          <a:p>
            <a:pPr marL="114300" indent="0">
              <a:buNone/>
            </a:pPr>
            <a:r>
              <a:rPr lang="en-IN" dirty="0"/>
              <a:t>			"Can I customize this?" 😄</a:t>
            </a:r>
          </a:p>
          <a:p>
            <a:pPr marL="114300" indent="0">
              <a:buNone/>
            </a:pPr>
            <a:endParaRPr lang="en-IN" dirty="0"/>
          </a:p>
        </p:txBody>
      </p:sp>
      <p:grpSp>
        <p:nvGrpSpPr>
          <p:cNvPr id="4" name="Google Shape;54;p13">
            <a:extLst>
              <a:ext uri="{FF2B5EF4-FFF2-40B4-BE49-F238E27FC236}">
                <a16:creationId xmlns:a16="http://schemas.microsoft.com/office/drawing/2014/main" id="{B9614BF2-1531-75C7-4C1B-D0135764C964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55;p13">
              <a:extLst>
                <a:ext uri="{FF2B5EF4-FFF2-40B4-BE49-F238E27FC236}">
                  <a16:creationId xmlns:a16="http://schemas.microsoft.com/office/drawing/2014/main" id="{F4B28D3D-DE8F-D5AB-B068-673FAD272839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;p13">
              <a:extLst>
                <a:ext uri="{FF2B5EF4-FFF2-40B4-BE49-F238E27FC236}">
                  <a16:creationId xmlns:a16="http://schemas.microsoft.com/office/drawing/2014/main" id="{238AF3D5-7E3E-0B86-815C-1430D6199438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742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4BE2-DB0D-6BB1-0B6F-B42AAA08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Tablet Rollout Milestone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03A57-213A-3669-A6D0-031DAF0AB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Include:</a:t>
            </a:r>
          </a:p>
          <a:p>
            <a:pPr marL="114300" indent="0">
              <a:buNone/>
            </a:pPr>
            <a:endParaRPr lang="en-IN" dirty="0"/>
          </a:p>
          <a:p>
            <a:pPr lvl="0"/>
            <a:r>
              <a:rPr lang="en-IN" dirty="0"/>
              <a:t>Test launch completed successfully </a:t>
            </a:r>
          </a:p>
          <a:p>
            <a:pPr lvl="0"/>
            <a:r>
              <a:rPr lang="en-IN" dirty="0"/>
              <a:t>50 customers participated </a:t>
            </a:r>
          </a:p>
          <a:p>
            <a:pPr lvl="0"/>
            <a:r>
              <a:rPr lang="en-IN" dirty="0"/>
              <a:t>Customer feedback collected </a:t>
            </a:r>
          </a:p>
          <a:p>
            <a:pPr lvl="0"/>
            <a:r>
              <a:rPr lang="en-IN" dirty="0"/>
              <a:t>Tablet ordering experience evaluated </a:t>
            </a:r>
          </a:p>
          <a:p>
            <a:endParaRPr lang="en-IN" dirty="0"/>
          </a:p>
        </p:txBody>
      </p:sp>
      <p:grpSp>
        <p:nvGrpSpPr>
          <p:cNvPr id="4" name="Google Shape;64;p14">
            <a:extLst>
              <a:ext uri="{FF2B5EF4-FFF2-40B4-BE49-F238E27FC236}">
                <a16:creationId xmlns:a16="http://schemas.microsoft.com/office/drawing/2014/main" id="{C3BA0826-378E-E36E-9900-820D2F58416A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65;p14">
              <a:extLst>
                <a:ext uri="{FF2B5EF4-FFF2-40B4-BE49-F238E27FC236}">
                  <a16:creationId xmlns:a16="http://schemas.microsoft.com/office/drawing/2014/main" id="{E87F3F33-B06D-55C9-3558-C09083BC27CD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6;p14">
              <a:extLst>
                <a:ext uri="{FF2B5EF4-FFF2-40B4-BE49-F238E27FC236}">
                  <a16:creationId xmlns:a16="http://schemas.microsoft.com/office/drawing/2014/main" id="{F7C352A5-0254-C20A-5BF4-98B051D80188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843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1479-9D6D-9E02-7CBA-0DDC818A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Project Evaluation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A9E9F-95AF-7C00-FF3E-D6E4E2277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pPr marL="114300" indent="0">
              <a:buNone/>
            </a:pPr>
            <a:r>
              <a:rPr lang="en-IN" dirty="0"/>
              <a:t>What the team evaluated:</a:t>
            </a:r>
          </a:p>
          <a:p>
            <a:pPr marL="114300" indent="0">
              <a:buNone/>
            </a:pPr>
            <a:endParaRPr lang="en-IN" dirty="0"/>
          </a:p>
          <a:p>
            <a:pPr lvl="0"/>
            <a:r>
              <a:rPr lang="en-IN" dirty="0"/>
              <a:t>Customer satisfaction </a:t>
            </a:r>
          </a:p>
          <a:p>
            <a:pPr lvl="0"/>
            <a:r>
              <a:rPr lang="en-IN" dirty="0"/>
              <a:t>Ease of tablet usage </a:t>
            </a:r>
          </a:p>
          <a:p>
            <a:pPr lvl="0"/>
            <a:r>
              <a:rPr lang="en-IN" dirty="0"/>
              <a:t>Order accuracy </a:t>
            </a:r>
          </a:p>
          <a:p>
            <a:pPr lvl="0"/>
            <a:r>
              <a:rPr lang="en-IN" dirty="0"/>
              <a:t>Payment experience </a:t>
            </a:r>
          </a:p>
          <a:p>
            <a:pPr lvl="0"/>
            <a:r>
              <a:rPr lang="en-IN" dirty="0"/>
              <a:t>Technical reliability</a:t>
            </a:r>
          </a:p>
          <a:p>
            <a:endParaRPr lang="en-IN" dirty="0"/>
          </a:p>
        </p:txBody>
      </p:sp>
      <p:grpSp>
        <p:nvGrpSpPr>
          <p:cNvPr id="4" name="Google Shape;64;p14">
            <a:extLst>
              <a:ext uri="{FF2B5EF4-FFF2-40B4-BE49-F238E27FC236}">
                <a16:creationId xmlns:a16="http://schemas.microsoft.com/office/drawing/2014/main" id="{55B64A08-8175-8DE6-A1DC-F9903A9C884A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65;p14">
              <a:extLst>
                <a:ext uri="{FF2B5EF4-FFF2-40B4-BE49-F238E27FC236}">
                  <a16:creationId xmlns:a16="http://schemas.microsoft.com/office/drawing/2014/main" id="{78FBDEC6-3038-B693-FD81-9A1E519F8853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6;p14">
              <a:extLst>
                <a:ext uri="{FF2B5EF4-FFF2-40B4-BE49-F238E27FC236}">
                  <a16:creationId xmlns:a16="http://schemas.microsoft.com/office/drawing/2014/main" id="{9810CC80-D91F-5E37-1755-CEDFC08E6D40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9526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1EF0-6386-BCD6-EA8A-DC4657CB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C7182"/>
                </a:solidFill>
              </a:rPr>
              <a:t> Test Launch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8B711-ACF2-D55B-FF80-809834D00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50 customers participated</a:t>
            </a:r>
            <a:r>
              <a:rPr lang="en-IN" dirty="0"/>
              <a:t> in the Sauce &amp; Spoon tablet ordering test launch. </a:t>
            </a:r>
          </a:p>
          <a:p>
            <a:pPr lvl="0"/>
            <a:r>
              <a:rPr lang="en-IN" dirty="0"/>
              <a:t>Customers used tablets during a simulated restaurant experience. </a:t>
            </a:r>
          </a:p>
          <a:p>
            <a:pPr lvl="0"/>
            <a:r>
              <a:rPr lang="en-IN" dirty="0"/>
              <a:t>Feedback was collected through a digital survey after dining. 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Purpose:</a:t>
            </a:r>
            <a:endParaRPr lang="en-IN" dirty="0"/>
          </a:p>
          <a:p>
            <a:pPr lvl="0"/>
            <a:r>
              <a:rPr lang="en-IN" dirty="0"/>
              <a:t>Evaluate customer acceptance </a:t>
            </a:r>
          </a:p>
          <a:p>
            <a:pPr lvl="0"/>
            <a:r>
              <a:rPr lang="en-IN" dirty="0"/>
              <a:t>Measure usability </a:t>
            </a:r>
          </a:p>
          <a:p>
            <a:pPr lvl="0"/>
            <a:r>
              <a:rPr lang="en-IN" dirty="0"/>
              <a:t>Identify improvement areas before full implementation</a:t>
            </a:r>
          </a:p>
          <a:p>
            <a:pPr marL="114300" indent="0">
              <a:buNone/>
            </a:pPr>
            <a:endParaRPr lang="en-IN" dirty="0"/>
          </a:p>
        </p:txBody>
      </p:sp>
      <p:grpSp>
        <p:nvGrpSpPr>
          <p:cNvPr id="4" name="Google Shape;54;p13">
            <a:extLst>
              <a:ext uri="{FF2B5EF4-FFF2-40B4-BE49-F238E27FC236}">
                <a16:creationId xmlns:a16="http://schemas.microsoft.com/office/drawing/2014/main" id="{7D838ADB-3990-CF34-4691-CB366D61E0C5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55;p13">
              <a:extLst>
                <a:ext uri="{FF2B5EF4-FFF2-40B4-BE49-F238E27FC236}">
                  <a16:creationId xmlns:a16="http://schemas.microsoft.com/office/drawing/2014/main" id="{7D8D9A57-68A8-1B8E-B933-E9BFA1BD5BDA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;p13">
              <a:extLst>
                <a:ext uri="{FF2B5EF4-FFF2-40B4-BE49-F238E27FC236}">
                  <a16:creationId xmlns:a16="http://schemas.microsoft.com/office/drawing/2014/main" id="{4C488AEC-1FB5-A9D0-4239-0DF0D364CEEF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4747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251A-1066-BB6A-A6A2-8934996C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123" y="890018"/>
            <a:ext cx="6735740" cy="881525"/>
          </a:xfrm>
        </p:spPr>
        <p:txBody>
          <a:bodyPr/>
          <a:lstStyle/>
          <a:p>
            <a:r>
              <a:rPr lang="en-IN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 adapted well</a:t>
            </a:r>
          </a:p>
        </p:txBody>
      </p:sp>
      <p:grpSp>
        <p:nvGrpSpPr>
          <p:cNvPr id="3" name="Google Shape;74;p15">
            <a:extLst>
              <a:ext uri="{FF2B5EF4-FFF2-40B4-BE49-F238E27FC236}">
                <a16:creationId xmlns:a16="http://schemas.microsoft.com/office/drawing/2014/main" id="{AAFEC4C1-01CB-11BA-4FA9-7CD03164AF77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4" name="Google Shape;75;p15">
              <a:extLst>
                <a:ext uri="{FF2B5EF4-FFF2-40B4-BE49-F238E27FC236}">
                  <a16:creationId xmlns:a16="http://schemas.microsoft.com/office/drawing/2014/main" id="{BBE0F52F-DC96-BFE9-8DB8-6431D33F751B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6;p15">
              <a:extLst>
                <a:ext uri="{FF2B5EF4-FFF2-40B4-BE49-F238E27FC236}">
                  <a16:creationId xmlns:a16="http://schemas.microsoft.com/office/drawing/2014/main" id="{4587B058-F38B-C976-8EF3-C873E4E33EE7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2E124A8-5F55-E780-027B-F4C9A55A0504}"/>
              </a:ext>
            </a:extLst>
          </p:cNvPr>
          <p:cNvSpPr txBox="1"/>
          <p:nvPr/>
        </p:nvSpPr>
        <p:spPr>
          <a:xfrm>
            <a:off x="365954" y="30524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b="1" dirty="0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D2391-3502-D352-1B9A-F4B51626B268}"/>
              </a:ext>
            </a:extLst>
          </p:cNvPr>
          <p:cNvSpPr txBox="1"/>
          <p:nvPr/>
        </p:nvSpPr>
        <p:spPr>
          <a:xfrm>
            <a:off x="1263805" y="1330780"/>
            <a:ext cx="699553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800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IN" sz="5400" b="1" dirty="0">
                <a:solidFill>
                  <a:schemeClr val="accent3">
                    <a:lumMod val="75000"/>
                  </a:schemeClr>
                </a:solidFill>
              </a:rPr>
              <a:t>76%</a:t>
            </a:r>
          </a:p>
          <a:p>
            <a:pPr algn="ctr"/>
            <a:endParaRPr lang="en-IN" sz="3200" dirty="0"/>
          </a:p>
          <a:p>
            <a:pPr algn="ctr"/>
            <a:r>
              <a:rPr lang="en-IN" sz="3200" dirty="0"/>
              <a:t>said waiter instructions on tablet usage were </a:t>
            </a:r>
            <a:r>
              <a:rPr lang="en-IN" sz="3200" b="1" dirty="0"/>
              <a:t>very helpful</a:t>
            </a:r>
            <a:endParaRPr lang="en-IN" sz="3200" b="1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566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74;p15">
            <a:extLst>
              <a:ext uri="{FF2B5EF4-FFF2-40B4-BE49-F238E27FC236}">
                <a16:creationId xmlns:a16="http://schemas.microsoft.com/office/drawing/2014/main" id="{8BFCEDB1-9301-6791-D995-4C5BEDFD525D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75;p15">
              <a:extLst>
                <a:ext uri="{FF2B5EF4-FFF2-40B4-BE49-F238E27FC236}">
                  <a16:creationId xmlns:a16="http://schemas.microsoft.com/office/drawing/2014/main" id="{782E32A3-EB79-5D91-0398-B5401F386157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6;p15">
              <a:extLst>
                <a:ext uri="{FF2B5EF4-FFF2-40B4-BE49-F238E27FC236}">
                  <a16:creationId xmlns:a16="http://schemas.microsoft.com/office/drawing/2014/main" id="{9C086D60-9530-5C8E-2686-88BCB44F3C92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B1548B-EDF1-EBF0-D170-EE41AEAE8F7B}"/>
              </a:ext>
            </a:extLst>
          </p:cNvPr>
          <p:cNvSpPr/>
          <p:nvPr/>
        </p:nvSpPr>
        <p:spPr>
          <a:xfrm>
            <a:off x="498088" y="488575"/>
            <a:ext cx="1650380" cy="2029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rgbClr val="0C718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A10E7D-40B9-8599-6011-62F46DC18EC9}"/>
              </a:ext>
            </a:extLst>
          </p:cNvPr>
          <p:cNvSpPr/>
          <p:nvPr/>
        </p:nvSpPr>
        <p:spPr>
          <a:xfrm>
            <a:off x="498088" y="2821257"/>
            <a:ext cx="1650380" cy="2029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rgbClr val="0C718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03A9E9-E3B2-DBD6-7E67-7232CFC6C7F2}"/>
              </a:ext>
            </a:extLst>
          </p:cNvPr>
          <p:cNvSpPr/>
          <p:nvPr/>
        </p:nvSpPr>
        <p:spPr>
          <a:xfrm>
            <a:off x="2984899" y="2802670"/>
            <a:ext cx="1650380" cy="2029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rgbClr val="0C718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8EE902-563C-37B7-93F1-C27E386918D5}"/>
              </a:ext>
            </a:extLst>
          </p:cNvPr>
          <p:cNvSpPr/>
          <p:nvPr/>
        </p:nvSpPr>
        <p:spPr>
          <a:xfrm>
            <a:off x="5395076" y="2769105"/>
            <a:ext cx="1650380" cy="2029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rgbClr val="0C718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AD1CF0-2862-032A-6ABD-BC7149311ED6}"/>
              </a:ext>
            </a:extLst>
          </p:cNvPr>
          <p:cNvSpPr/>
          <p:nvPr/>
        </p:nvSpPr>
        <p:spPr>
          <a:xfrm>
            <a:off x="5421095" y="488575"/>
            <a:ext cx="1650380" cy="2029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rgbClr val="0C718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35DD4E-C1E2-C2B9-25C6-04BF112CA85F}"/>
              </a:ext>
            </a:extLst>
          </p:cNvPr>
          <p:cNvSpPr/>
          <p:nvPr/>
        </p:nvSpPr>
        <p:spPr>
          <a:xfrm>
            <a:off x="2984899" y="488575"/>
            <a:ext cx="1650380" cy="2029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rgbClr val="0C718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2FF18-FCCC-595D-2EBD-F15C133A5D26}"/>
              </a:ext>
            </a:extLst>
          </p:cNvPr>
          <p:cNvSpPr txBox="1"/>
          <p:nvPr/>
        </p:nvSpPr>
        <p:spPr>
          <a:xfrm>
            <a:off x="932985" y="656434"/>
            <a:ext cx="65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01BA4-2318-E7C8-2273-B91719746445}"/>
              </a:ext>
            </a:extLst>
          </p:cNvPr>
          <p:cNvSpPr txBox="1"/>
          <p:nvPr/>
        </p:nvSpPr>
        <p:spPr>
          <a:xfrm>
            <a:off x="564995" y="1272270"/>
            <a:ext cx="15091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50</a:t>
            </a:r>
          </a:p>
          <a:p>
            <a:pPr algn="ctr"/>
            <a:endParaRPr lang="en-IN" sz="200" b="1" dirty="0">
              <a:solidFill>
                <a:schemeClr val="bg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IN" sz="200" b="1" dirty="0">
              <a:solidFill>
                <a:schemeClr val="bg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Segoe UI Black" panose="020B0A02040204020203" pitchFamily="34" charset="0"/>
              </a:rPr>
              <a:t>Customer</a:t>
            </a:r>
          </a:p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Segoe UI Black" panose="020B0A02040204020203" pitchFamily="34" charset="0"/>
              </a:rPr>
              <a:t>Tested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172E50-5A8B-54E5-65DA-5645B941C2A2}"/>
              </a:ext>
            </a:extLst>
          </p:cNvPr>
          <p:cNvSpPr txBox="1"/>
          <p:nvPr/>
        </p:nvSpPr>
        <p:spPr>
          <a:xfrm>
            <a:off x="3489018" y="738841"/>
            <a:ext cx="814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2864C-450B-7E03-E410-FFA01E3A4589}"/>
              </a:ext>
            </a:extLst>
          </p:cNvPr>
          <p:cNvSpPr txBox="1"/>
          <p:nvPr/>
        </p:nvSpPr>
        <p:spPr>
          <a:xfrm>
            <a:off x="2984899" y="1310006"/>
            <a:ext cx="16503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72% </a:t>
            </a:r>
            <a:endParaRPr lang="en-IN" sz="700" b="1" dirty="0"/>
          </a:p>
          <a:p>
            <a:r>
              <a:rPr lang="en-IN" sz="700" b="1" dirty="0"/>
              <a:t>   </a:t>
            </a: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Positive tablet</a:t>
            </a:r>
          </a:p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Experience</a:t>
            </a:r>
            <a:endParaRPr lang="en-IN" sz="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C84767-B53B-525A-0E76-A87035866448}"/>
              </a:ext>
            </a:extLst>
          </p:cNvPr>
          <p:cNvSpPr txBox="1"/>
          <p:nvPr/>
        </p:nvSpPr>
        <p:spPr>
          <a:xfrm>
            <a:off x="5885730" y="558756"/>
            <a:ext cx="434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💳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D7DB7-A212-FB74-60C3-1D7576B02484}"/>
              </a:ext>
            </a:extLst>
          </p:cNvPr>
          <p:cNvSpPr txBox="1"/>
          <p:nvPr/>
        </p:nvSpPr>
        <p:spPr>
          <a:xfrm>
            <a:off x="5369057" y="1174067"/>
            <a:ext cx="1702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   66%</a:t>
            </a:r>
          </a:p>
          <a:p>
            <a:pPr algn="ctr"/>
            <a:r>
              <a:rPr lang="en-IN" sz="1800" b="1" dirty="0">
                <a:solidFill>
                  <a:schemeClr val="accent5">
                    <a:lumMod val="75000"/>
                  </a:schemeClr>
                </a:solidFill>
              </a:rPr>
              <a:t>Payment</a:t>
            </a:r>
          </a:p>
          <a:p>
            <a:pPr algn="ctr"/>
            <a:r>
              <a:rPr lang="en-IN" sz="1800" b="1" dirty="0">
                <a:solidFill>
                  <a:schemeClr val="accent5">
                    <a:lumMod val="75000"/>
                  </a:schemeClr>
                </a:solidFill>
              </a:rPr>
              <a:t>Confidence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5D1556-FFED-B209-07F5-7158AEAD6BEF}"/>
              </a:ext>
            </a:extLst>
          </p:cNvPr>
          <p:cNvSpPr txBox="1"/>
          <p:nvPr/>
        </p:nvSpPr>
        <p:spPr>
          <a:xfrm>
            <a:off x="957146" y="3094833"/>
            <a:ext cx="724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📧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3B958-A381-FC1D-6CCB-43E8EBB2D05D}"/>
              </a:ext>
            </a:extLst>
          </p:cNvPr>
          <p:cNvSpPr txBox="1"/>
          <p:nvPr/>
        </p:nvSpPr>
        <p:spPr>
          <a:xfrm>
            <a:off x="531542" y="3513573"/>
            <a:ext cx="15091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 78%</a:t>
            </a:r>
            <a:br>
              <a:rPr lang="en-IN" dirty="0"/>
            </a:br>
            <a:endParaRPr lang="en-IN" sz="600" dirty="0"/>
          </a:p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Newsletter Signups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EA8689-69AA-50D0-F5E8-72D8F2B851FB}"/>
              </a:ext>
            </a:extLst>
          </p:cNvPr>
          <p:cNvSpPr txBox="1"/>
          <p:nvPr/>
        </p:nvSpPr>
        <p:spPr>
          <a:xfrm>
            <a:off x="3471746" y="3125610"/>
            <a:ext cx="434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⚙️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DF430F-5FA0-6E5E-96DC-933651345398}"/>
              </a:ext>
            </a:extLst>
          </p:cNvPr>
          <p:cNvSpPr txBox="1"/>
          <p:nvPr/>
        </p:nvSpPr>
        <p:spPr>
          <a:xfrm>
            <a:off x="2984899" y="3502410"/>
            <a:ext cx="17469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 88%</a:t>
            </a:r>
          </a:p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No Technical</a:t>
            </a:r>
          </a:p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Issues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1726E9-D403-4045-9D34-8A4F79ADB2BE}"/>
              </a:ext>
            </a:extLst>
          </p:cNvPr>
          <p:cNvSpPr txBox="1"/>
          <p:nvPr/>
        </p:nvSpPr>
        <p:spPr>
          <a:xfrm>
            <a:off x="5879768" y="3000061"/>
            <a:ext cx="4348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🍽️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F3328F-A1D4-F87F-A5E7-563E3395B244}"/>
              </a:ext>
            </a:extLst>
          </p:cNvPr>
          <p:cNvSpPr txBox="1"/>
          <p:nvPr/>
        </p:nvSpPr>
        <p:spPr>
          <a:xfrm>
            <a:off x="5659114" y="3543922"/>
            <a:ext cx="147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72%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857B25-4ADF-7978-AD68-DE4B66BA0BBA}"/>
              </a:ext>
            </a:extLst>
          </p:cNvPr>
          <p:cNvSpPr txBox="1"/>
          <p:nvPr/>
        </p:nvSpPr>
        <p:spPr>
          <a:xfrm>
            <a:off x="5369057" y="4113896"/>
            <a:ext cx="1813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Orders Prepared Correctly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EBCF016-0E27-E387-7EEB-8E3FB2C014E5}"/>
              </a:ext>
            </a:extLst>
          </p:cNvPr>
          <p:cNvSpPr/>
          <p:nvPr/>
        </p:nvSpPr>
        <p:spPr>
          <a:xfrm>
            <a:off x="7248293" y="488575"/>
            <a:ext cx="1598341" cy="4361739"/>
          </a:xfrm>
          <a:prstGeom prst="roundRect">
            <a:avLst/>
          </a:pr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accent2"/>
                </a:solidFill>
              </a:rPr>
              <a:t>Key Insights</a:t>
            </a:r>
          </a:p>
          <a:p>
            <a:pPr algn="ctr"/>
            <a:endParaRPr lang="en-IN" dirty="0">
              <a:solidFill>
                <a:schemeClr val="accent2"/>
              </a:solidFill>
            </a:endParaRPr>
          </a:p>
          <a:p>
            <a:pPr algn="ctr"/>
            <a:r>
              <a:rPr lang="en-IN" dirty="0">
                <a:solidFill>
                  <a:schemeClr val="accent2"/>
                </a:solidFill>
              </a:rPr>
              <a:t>Strong customer adoption, but order accuracy and technical improvements are required before full rollout.</a:t>
            </a:r>
          </a:p>
        </p:txBody>
      </p:sp>
    </p:spTree>
    <p:extLst>
      <p:ext uri="{BB962C8B-B14F-4D97-AF65-F5344CB8AC3E}">
        <p14:creationId xmlns:p14="http://schemas.microsoft.com/office/powerpoint/2010/main" val="391105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E446A0B-FF69-EF9B-94BE-DD49028A08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911131"/>
              </p:ext>
            </p:extLst>
          </p:nvPr>
        </p:nvGraphicFramePr>
        <p:xfrm>
          <a:off x="319668" y="785076"/>
          <a:ext cx="6259551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169577-8D25-5A7A-88B6-9ADC802C59B6}"/>
              </a:ext>
            </a:extLst>
          </p:cNvPr>
          <p:cNvSpPr txBox="1"/>
          <p:nvPr/>
        </p:nvSpPr>
        <p:spPr>
          <a:xfrm>
            <a:off x="2118732" y="254181"/>
            <a:ext cx="534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Customer Tablet Experience Rating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42E43-B76C-4798-478C-2843BB547A4E}"/>
              </a:ext>
            </a:extLst>
          </p:cNvPr>
          <p:cNvSpPr txBox="1"/>
          <p:nvPr/>
        </p:nvSpPr>
        <p:spPr>
          <a:xfrm>
            <a:off x="6783479" y="1613209"/>
            <a:ext cx="19477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/>
              <a:t>Key Insight</a:t>
            </a:r>
          </a:p>
          <a:p>
            <a:endParaRPr lang="en-IN" b="1" dirty="0"/>
          </a:p>
          <a:p>
            <a:pPr algn="ctr"/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72% of customers rated the tablet experience Good or Great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951E02-7F30-D3C8-99FD-0594B1E2203E}"/>
              </a:ext>
            </a:extLst>
          </p:cNvPr>
          <p:cNvSpPr/>
          <p:nvPr/>
        </p:nvSpPr>
        <p:spPr>
          <a:xfrm>
            <a:off x="6694269" y="1324187"/>
            <a:ext cx="2126166" cy="2074126"/>
          </a:xfrm>
          <a:prstGeom prst="ellipse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oogle Shape;74;p15">
            <a:extLst>
              <a:ext uri="{FF2B5EF4-FFF2-40B4-BE49-F238E27FC236}">
                <a16:creationId xmlns:a16="http://schemas.microsoft.com/office/drawing/2014/main" id="{0F351A73-AFCE-C904-7B50-D8DCB0AA3526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11" name="Google Shape;75;p15">
              <a:extLst>
                <a:ext uri="{FF2B5EF4-FFF2-40B4-BE49-F238E27FC236}">
                  <a16:creationId xmlns:a16="http://schemas.microsoft.com/office/drawing/2014/main" id="{1B0FED4D-FE65-CD43-6BE2-ED9463A3BFA7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6;p15">
              <a:extLst>
                <a:ext uri="{FF2B5EF4-FFF2-40B4-BE49-F238E27FC236}">
                  <a16:creationId xmlns:a16="http://schemas.microsoft.com/office/drawing/2014/main" id="{1E7A8246-5A38-8E77-5FEC-21BF67C62C14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3323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E1C6F8-D2DF-E5A6-A646-2168CB2AD270}"/>
              </a:ext>
            </a:extLst>
          </p:cNvPr>
          <p:cNvSpPr/>
          <p:nvPr/>
        </p:nvSpPr>
        <p:spPr>
          <a:xfrm>
            <a:off x="3657600" y="3724743"/>
            <a:ext cx="4973443" cy="371707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0C71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0F7054-7648-F81A-3563-0EBDB16BF1D3}"/>
              </a:ext>
            </a:extLst>
          </p:cNvPr>
          <p:cNvSpPr/>
          <p:nvPr/>
        </p:nvSpPr>
        <p:spPr>
          <a:xfrm>
            <a:off x="2709746" y="3120143"/>
            <a:ext cx="5073805" cy="371707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0C71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6B0645-E31E-8579-A590-F8BB11AAE429}"/>
              </a:ext>
            </a:extLst>
          </p:cNvPr>
          <p:cNvSpPr/>
          <p:nvPr/>
        </p:nvSpPr>
        <p:spPr>
          <a:xfrm>
            <a:off x="869795" y="1858537"/>
            <a:ext cx="4230029" cy="371707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0C71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B24703-9A6C-AECD-9F76-C9D73D73249F}"/>
              </a:ext>
            </a:extLst>
          </p:cNvPr>
          <p:cNvSpPr/>
          <p:nvPr/>
        </p:nvSpPr>
        <p:spPr>
          <a:xfrm>
            <a:off x="1624361" y="2480606"/>
            <a:ext cx="4230029" cy="371707"/>
          </a:xfrm>
          <a:prstGeom prst="roundRect">
            <a:avLst/>
          </a:prstGeom>
          <a:solidFill>
            <a:schemeClr val="tx2"/>
          </a:solidFill>
          <a:ln w="28575">
            <a:solidFill>
              <a:srgbClr val="0C71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92EBE-F888-9C2D-2FA5-5E5544AC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Successes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8A831-4013-0198-628C-94982961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650" y="1144113"/>
            <a:ext cx="8520600" cy="3416400"/>
          </a:xfrm>
          <a:ln>
            <a:noFill/>
          </a:ln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What worked well?</a:t>
            </a: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   </a:t>
            </a:r>
            <a:r>
              <a:rPr lang="en-IN" sz="1600" b="1" dirty="0"/>
              <a:t>Customers enjoyed tablet interaction</a:t>
            </a:r>
            <a:br>
              <a:rPr lang="en-IN" dirty="0"/>
            </a:br>
            <a:endParaRPr lang="en-IN" dirty="0"/>
          </a:p>
          <a:p>
            <a:pPr marL="114300" indent="0">
              <a:buNone/>
            </a:pPr>
            <a:r>
              <a:rPr lang="en-IN" dirty="0"/>
              <a:t>		</a:t>
            </a:r>
            <a:r>
              <a:rPr lang="en-IN" b="1" dirty="0"/>
              <a:t> </a:t>
            </a:r>
            <a:r>
              <a:rPr lang="en-IN" sz="1600" b="1" dirty="0"/>
              <a:t>High newsletter signup rate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		</a:t>
            </a:r>
            <a:r>
              <a:rPr lang="en-IN" sz="1600" dirty="0"/>
              <a:t>        </a:t>
            </a:r>
            <a:r>
              <a:rPr lang="en-IN" sz="1600" b="1" dirty="0"/>
              <a:t>Most customers experienced no technical issues</a:t>
            </a:r>
            <a:br>
              <a:rPr lang="en-IN" sz="2000" dirty="0"/>
            </a:br>
            <a:br>
              <a:rPr lang="en-IN" dirty="0"/>
            </a:br>
            <a:r>
              <a:rPr lang="en-IN" dirty="0"/>
              <a:t>			     </a:t>
            </a:r>
            <a:r>
              <a:rPr lang="en-IN" sz="1600" b="1" dirty="0"/>
              <a:t>Payment process was considered easy and secure</a:t>
            </a:r>
            <a:endParaRPr lang="en-IN" sz="2000" b="1" dirty="0"/>
          </a:p>
          <a:p>
            <a:endParaRPr lang="en-IN" dirty="0"/>
          </a:p>
        </p:txBody>
      </p:sp>
      <p:grpSp>
        <p:nvGrpSpPr>
          <p:cNvPr id="4" name="Google Shape;74;p15">
            <a:extLst>
              <a:ext uri="{FF2B5EF4-FFF2-40B4-BE49-F238E27FC236}">
                <a16:creationId xmlns:a16="http://schemas.microsoft.com/office/drawing/2014/main" id="{44EB4664-CE70-E37F-C932-AF32300CF6A4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75;p15">
              <a:extLst>
                <a:ext uri="{FF2B5EF4-FFF2-40B4-BE49-F238E27FC236}">
                  <a16:creationId xmlns:a16="http://schemas.microsoft.com/office/drawing/2014/main" id="{59804901-48DE-9A62-679D-C48BB22A9138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6;p15">
              <a:extLst>
                <a:ext uri="{FF2B5EF4-FFF2-40B4-BE49-F238E27FC236}">
                  <a16:creationId xmlns:a16="http://schemas.microsoft.com/office/drawing/2014/main" id="{955FCF2A-49ED-1498-2A84-66E25EE5629F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9258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139A-6E22-56C9-D0C6-00630FCDC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60B6F-952A-9008-9C29-8E37E0869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Areas requiring attention</a:t>
            </a: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⚠️ 28% order preparation errors</a:t>
            </a:r>
            <a:br>
              <a:rPr lang="en-IN" dirty="0"/>
            </a:br>
            <a:endParaRPr lang="en-IN" dirty="0"/>
          </a:p>
          <a:p>
            <a:pPr marL="114300" indent="0">
              <a:buNone/>
            </a:pPr>
            <a:r>
              <a:rPr lang="en-IN" dirty="0"/>
              <a:t>⚠️ Tablet freezing issues</a:t>
            </a:r>
            <a:br>
              <a:rPr lang="en-IN" dirty="0"/>
            </a:br>
            <a:endParaRPr lang="en-IN" dirty="0"/>
          </a:p>
          <a:p>
            <a:pPr marL="114300" indent="0">
              <a:buNone/>
            </a:pPr>
            <a:r>
              <a:rPr lang="en-IN" dirty="0"/>
              <a:t>⚠️ Some customers preferred waiter interaction</a:t>
            </a:r>
            <a:br>
              <a:rPr lang="en-IN" dirty="0"/>
            </a:br>
            <a:endParaRPr lang="en-IN" dirty="0"/>
          </a:p>
          <a:p>
            <a:pPr marL="114300" indent="0">
              <a:buNone/>
            </a:pPr>
            <a:r>
              <a:rPr lang="en-IN" dirty="0"/>
              <a:t>⚠️ Interface improvements needed</a:t>
            </a:r>
          </a:p>
          <a:p>
            <a:endParaRPr lang="en-IN" dirty="0"/>
          </a:p>
        </p:txBody>
      </p:sp>
      <p:grpSp>
        <p:nvGrpSpPr>
          <p:cNvPr id="4" name="Google Shape;84;p16">
            <a:extLst>
              <a:ext uri="{FF2B5EF4-FFF2-40B4-BE49-F238E27FC236}">
                <a16:creationId xmlns:a16="http://schemas.microsoft.com/office/drawing/2014/main" id="{7FA176D3-6763-7448-7176-C124246BFBF1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85;p16">
              <a:extLst>
                <a:ext uri="{FF2B5EF4-FFF2-40B4-BE49-F238E27FC236}">
                  <a16:creationId xmlns:a16="http://schemas.microsoft.com/office/drawing/2014/main" id="{E4FB1423-FE74-9DFD-0FE1-DE38B09D172F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;p16">
              <a:extLst>
                <a:ext uri="{FF2B5EF4-FFF2-40B4-BE49-F238E27FC236}">
                  <a16:creationId xmlns:a16="http://schemas.microsoft.com/office/drawing/2014/main" id="{3FF5CBE4-BC95-1D76-BEC3-387320BCCB0C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4875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6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85" name="Google Shape;85;p16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>
            <a:spLocks noGrp="1"/>
          </p:cNvSpPr>
          <p:nvPr>
            <p:ph type="ctrTitle" idx="4294967295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Recommendation #1</a:t>
            </a:r>
            <a:endParaRPr sz="3200" b="1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140750" y="1317499"/>
            <a:ext cx="6862500" cy="319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300" b="1" dirty="0">
                <a:latin typeface="Open Sans"/>
                <a:ea typeface="Open Sans"/>
                <a:cs typeface="Open Sans"/>
                <a:sym typeface="Open Sans"/>
              </a:rPr>
              <a:t>Survey Finding</a:t>
            </a:r>
            <a:r>
              <a:rPr lang="en" sz="230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IN" sz="2400" dirty="0"/>
              <a:t>Improve tablet usability:</a:t>
            </a:r>
            <a:endParaRPr sz="2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lang="en" sz="2300" dirty="0"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Simplify navigation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menu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 better customer guidance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95" name="Google Shape;95;p17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>
            <a:spLocks noGrp="1"/>
          </p:cNvSpPr>
          <p:nvPr>
            <p:ph type="ctrTitle" idx="4294967295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Recommendation #2</a:t>
            </a:r>
            <a:endParaRPr sz="3200" b="1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Survey Finding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Tablet malfunctions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Implement process for checking tablets before service/changing out tablets between guests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5F6C-C6B6-9783-CD8D-02DE5122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Next Steps / Stakeholder Decisions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731D8-1B83-A917-3E29-2B0B35368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Requesting stakeholder support for:</a:t>
            </a:r>
          </a:p>
          <a:p>
            <a:pPr marL="114300" indent="0">
              <a:buNone/>
            </a:pPr>
            <a:endParaRPr lang="en-IN" dirty="0"/>
          </a:p>
          <a:p>
            <a:pPr lvl="0"/>
            <a:r>
              <a:rPr lang="en-IN" dirty="0"/>
              <a:t>Additional testing phase </a:t>
            </a:r>
          </a:p>
          <a:p>
            <a:pPr marL="114300" lvl="0" indent="0">
              <a:buNone/>
            </a:pPr>
            <a:endParaRPr lang="en-IN" dirty="0"/>
          </a:p>
          <a:p>
            <a:pPr lvl="0"/>
            <a:r>
              <a:rPr lang="en-IN" dirty="0"/>
              <a:t>Tablet improvements </a:t>
            </a:r>
          </a:p>
          <a:p>
            <a:pPr marL="114300" lvl="0" indent="0">
              <a:buNone/>
            </a:pPr>
            <a:endParaRPr lang="en-IN" dirty="0"/>
          </a:p>
          <a:p>
            <a:pPr lvl="0"/>
            <a:r>
              <a:rPr lang="en-IN" dirty="0"/>
              <a:t>Staff training </a:t>
            </a:r>
          </a:p>
          <a:p>
            <a:pPr marL="114300" lvl="0" indent="0">
              <a:buNone/>
            </a:pPr>
            <a:endParaRPr lang="en-IN" dirty="0"/>
          </a:p>
          <a:p>
            <a:pPr lvl="0"/>
            <a:r>
              <a:rPr lang="en-IN" dirty="0"/>
              <a:t>Full rollout preparation</a:t>
            </a:r>
          </a:p>
          <a:p>
            <a:pPr marL="114300" indent="0">
              <a:buNone/>
            </a:pPr>
            <a:endParaRPr lang="en-IN" dirty="0"/>
          </a:p>
        </p:txBody>
      </p:sp>
      <p:grpSp>
        <p:nvGrpSpPr>
          <p:cNvPr id="4" name="Google Shape;94;p17">
            <a:extLst>
              <a:ext uri="{FF2B5EF4-FFF2-40B4-BE49-F238E27FC236}">
                <a16:creationId xmlns:a16="http://schemas.microsoft.com/office/drawing/2014/main" id="{42D8D41B-C7A8-38F2-219E-BB38A694E89A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" name="Google Shape;95;p17">
              <a:extLst>
                <a:ext uri="{FF2B5EF4-FFF2-40B4-BE49-F238E27FC236}">
                  <a16:creationId xmlns:a16="http://schemas.microsoft.com/office/drawing/2014/main" id="{09E307E4-A98B-B575-772B-6B0F520218A8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;p17">
              <a:extLst>
                <a:ext uri="{FF2B5EF4-FFF2-40B4-BE49-F238E27FC236}">
                  <a16:creationId xmlns:a16="http://schemas.microsoft.com/office/drawing/2014/main" id="{5D56D5DE-C3CD-83C6-5ACA-BC1E95792253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0817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E401-A123-756D-E224-3D827E00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62" y="435281"/>
            <a:ext cx="8363818" cy="40908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C7182"/>
                </a:solidFill>
              </a:rPr>
              <a:t>THANK YOU!!</a:t>
            </a:r>
            <a:br>
              <a:rPr lang="en-IN" dirty="0"/>
            </a:br>
            <a:r>
              <a:rPr lang="en-IN" dirty="0"/>
              <a:t>Q&amp;A</a:t>
            </a:r>
          </a:p>
        </p:txBody>
      </p:sp>
      <p:grpSp>
        <p:nvGrpSpPr>
          <p:cNvPr id="3" name="Google Shape;94;p17">
            <a:extLst>
              <a:ext uri="{FF2B5EF4-FFF2-40B4-BE49-F238E27FC236}">
                <a16:creationId xmlns:a16="http://schemas.microsoft.com/office/drawing/2014/main" id="{3CC0244C-B33F-3215-851B-886BC1BE48D3}"/>
              </a:ext>
            </a:extLst>
          </p:cNvPr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4" name="Google Shape;95;p17">
              <a:extLst>
                <a:ext uri="{FF2B5EF4-FFF2-40B4-BE49-F238E27FC236}">
                  <a16:creationId xmlns:a16="http://schemas.microsoft.com/office/drawing/2014/main" id="{1A78CD55-1719-F28C-9ABB-91C152C7F5AB}"/>
                </a:ext>
              </a:extLst>
            </p:cNvPr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w="7620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6;p17">
              <a:extLst>
                <a:ext uri="{FF2B5EF4-FFF2-40B4-BE49-F238E27FC236}">
                  <a16:creationId xmlns:a16="http://schemas.microsoft.com/office/drawing/2014/main" id="{6277D78F-6971-CFB5-4DB2-BE0F16A36555}"/>
                </a:ext>
              </a:extLst>
            </p:cNvPr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w="19050" cap="flat" cmpd="sng">
              <a:solidFill>
                <a:srgbClr val="0C71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553114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On-screen Show (16:9)</PresentationFormat>
  <Paragraphs>150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Open Sans</vt:lpstr>
      <vt:lpstr>Arial</vt:lpstr>
      <vt:lpstr>Segoe UI Black</vt:lpstr>
      <vt:lpstr>Simple Light</vt:lpstr>
      <vt:lpstr>Sauce &amp; Spoon Tablet Ordering Test Launch</vt:lpstr>
      <vt:lpstr>Project Background &amp; Business Need </vt:lpstr>
      <vt:lpstr>Evaluation</vt:lpstr>
      <vt:lpstr>"Our Biggest Competitor Wasn't Another Restaurant..." </vt:lpstr>
      <vt:lpstr>Tablet Rollout Milestone</vt:lpstr>
      <vt:lpstr>Project Evaluation Goals</vt:lpstr>
      <vt:lpstr> Test Launch Overview</vt:lpstr>
      <vt:lpstr>Customer adapted well</vt:lpstr>
      <vt:lpstr>PowerPoint Presentation</vt:lpstr>
      <vt:lpstr>PowerPoint Presentation</vt:lpstr>
      <vt:lpstr>Key Successes</vt:lpstr>
      <vt:lpstr>Challenges &amp; Risks</vt:lpstr>
      <vt:lpstr>Recommendation #1</vt:lpstr>
      <vt:lpstr>Recommendation #2</vt:lpstr>
      <vt:lpstr>Next Steps / Stakeholder Decisions</vt:lpstr>
      <vt:lpstr>THANK YOU!!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Pranjal Singh</dc:creator>
  <cp:lastModifiedBy>Pranjal Singh</cp:lastModifiedBy>
  <cp:revision>1</cp:revision>
  <dcterms:modified xsi:type="dcterms:W3CDTF">2026-08-06T08:23:27Z</dcterms:modified>
</cp:coreProperties>
</file>