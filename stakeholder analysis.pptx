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C05D11-81C4-4C84-A7C9-929C15F2CB27}">
  <a:tblStyle styleId="{90C05D11-81C4-4C84-A7C9-929C15F2CB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455395c98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455395c98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bd6139be6a_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bd6139be6a_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230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4027681516"/>
              </p:ext>
            </p:extLst>
          </p:nvPr>
        </p:nvGraphicFramePr>
        <p:xfrm>
          <a:off x="156117" y="436824"/>
          <a:ext cx="8857786" cy="4655382"/>
        </p:xfrm>
        <a:graphic>
          <a:graphicData uri="http://schemas.openxmlformats.org/drawingml/2006/table">
            <a:tbl>
              <a:tblPr>
                <a:noFill/>
                <a:tableStyleId>{90C05D11-81C4-4C84-A7C9-929C15F2CB27}</a:tableStyleId>
              </a:tblPr>
              <a:tblGrid>
                <a:gridCol w="205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8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47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57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Stakeholder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Role 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Power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Interest (H/M/L)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rgbClr val="666666"/>
                          </a:solidFill>
                        </a:rPr>
                        <a:t>Notes</a:t>
                      </a:r>
                      <a:endParaRPr sz="1200" b="1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3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Omar Mubarak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Owner &amp; CEO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2C481F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Most senior stakeholder; responsible for overall direction, profitability, and reputation of the restaurant group.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3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Deanna Coleman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Director of Operations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2C481F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Leads project vision; drives operations, menu average check goals ($70–$75), and oversees GMs and hiring.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3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Peta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Manager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Oversees pilot rollout, balances stakeholder feedback, manages timeline, and defines charter scope.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68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Gilly Tyson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(North)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Manages North business district location; key operations expert focused on happy hour trends and 10% app sales target.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68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Alex Schmidt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(Downtown)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Manages Downtown location; focuses on dinner crowd, targeting 20% app sales increase, and BOH staffing needs.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7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Nia Williams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Manager (Waterfront)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133819"/>
                          </a:solidFill>
                          <a:effectLst/>
                          <a:latin typeface="Roboto" panose="02000000000000000000" pitchFamily="2" charset="0"/>
                        </a:rPr>
                        <a:t>Low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C535E"/>
                          </a:solidFill>
                          <a:effectLst/>
                          <a:latin typeface="Roboto" panose="02000000000000000000" pitchFamily="2" charset="0"/>
                        </a:rPr>
                        <a:t>Low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Manages Waterfront location; not included in the initial pilot run (Downtown &amp; North only).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343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Carter Ward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Executive Chef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2C481F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Key visionary with final say on all menu choices; runs kitchen operations and oversees chefs across locations.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111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Zane Dutchman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(North)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133819"/>
                          </a:solidFill>
                          <a:effectLst/>
                          <a:latin typeface="Roboto" panose="02000000000000000000" pitchFamily="2" charset="0"/>
                        </a:rPr>
                        <a:t>Low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63F32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Oversees North BOH daily operations, labor, and cost control under Gilly; learning the role.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17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Larissa Stein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Kitchen Manager (Downtown)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133819"/>
                          </a:solidFill>
                          <a:effectLst/>
                          <a:latin typeface="Roboto" panose="02000000000000000000" pitchFamily="2" charset="0"/>
                        </a:rPr>
                        <a:t>Low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363F32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Manages fast-paced Downtown BOH operations, labor, and kitchen costs under Alex; Michelin-star background.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334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Seydou Diallo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Restaurant Technology Consultant</a:t>
                      </a:r>
                      <a:endParaRPr sz="800" dirty="0">
                        <a:solidFill>
                          <a:srgbClr val="666666"/>
                        </a:solidFill>
                      </a:endParaRPr>
                    </a:p>
                  </a:txBody>
                  <a:tcPr marL="66675" marR="66675" marT="50000" marB="50000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2A3243"/>
                          </a:solidFill>
                          <a:effectLst/>
                          <a:latin typeface="Roboto" panose="02000000000000000000" pitchFamily="2" charset="0"/>
                        </a:rPr>
                        <a:t>Medium</a:t>
                      </a:r>
                    </a:p>
                  </a:txBody>
                  <a:tcPr marL="22860" marR="22860" marT="15240" marB="15240" anchor="ctr">
                    <a:lnL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383A3C"/>
                          </a:solidFill>
                          <a:effectLst/>
                          <a:latin typeface="Roboto" panose="02000000000000000000" pitchFamily="2" charset="0"/>
                        </a:rPr>
                        <a:t>High</a:t>
                      </a:r>
                    </a:p>
                  </a:txBody>
                  <a:tcPr marL="22860" marR="228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b="0" dirty="0">
                          <a:solidFill>
                            <a:srgbClr val="434343"/>
                          </a:solidFill>
                          <a:effectLst/>
                          <a:latin typeface="Roboto" panose="02000000000000000000" pitchFamily="2" charset="0"/>
                        </a:rPr>
                        <a:t>Leads tech integration, hardware/POS setup, Wi-Fi support, and software implementation for the pilot.</a:t>
                      </a:r>
                    </a:p>
                  </a:txBody>
                  <a:tcPr marL="60960" marR="60960" marT="15240" marB="15240" anchor="ctr">
                    <a:lnL w="9525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7B7B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760350" y="34341"/>
            <a:ext cx="76233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5818E"/>
                </a:solidFill>
                <a:highlight>
                  <a:srgbClr val="FFFFFF"/>
                </a:highlight>
              </a:rPr>
              <a:t>Stakeholder Analysis</a:t>
            </a:r>
            <a:endParaRPr sz="1800" b="1">
              <a:solidFill>
                <a:srgbClr val="45818E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2824888" y="581998"/>
            <a:ext cx="2817600" cy="18681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lt1"/>
                </a:solidFill>
              </a:rPr>
              <a:t>Keep satisfied (high priority)</a:t>
            </a:r>
            <a:endParaRPr b="1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642483" y="581998"/>
            <a:ext cx="2817600" cy="1868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</a:rPr>
              <a:t>Manage closely (high effort)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24888" y="2450233"/>
            <a:ext cx="2817600" cy="1868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Monitor (minimum effort)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642483" y="2450233"/>
            <a:ext cx="2817600" cy="1868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666666"/>
                </a:solidFill>
              </a:rPr>
              <a:t>Show consideration</a:t>
            </a:r>
            <a:endParaRPr b="1">
              <a:solidFill>
                <a:srgbClr val="666666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 rot="-5400000">
            <a:off x="1267475" y="2314375"/>
            <a:ext cx="1677000" cy="3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Power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553788" y="47864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553788" y="4084038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67" name="Google Shape;67;p14"/>
          <p:cNvCxnSpPr/>
          <p:nvPr/>
        </p:nvCxnSpPr>
        <p:spPr>
          <a:xfrm rot="10800000">
            <a:off x="2526443" y="869463"/>
            <a:ext cx="0" cy="1476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68;p14"/>
          <p:cNvCxnSpPr/>
          <p:nvPr/>
        </p:nvCxnSpPr>
        <p:spPr>
          <a:xfrm>
            <a:off x="2526443" y="2571306"/>
            <a:ext cx="0" cy="15429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" name="Google Shape;69;p14"/>
          <p:cNvSpPr txBox="1"/>
          <p:nvPr/>
        </p:nvSpPr>
        <p:spPr>
          <a:xfrm>
            <a:off x="5164688" y="4250781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806913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high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526438" y="4254272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low</a:t>
            </a:r>
            <a:endParaRPr>
              <a:solidFill>
                <a:srgbClr val="CCCCCC"/>
              </a:solidFill>
            </a:endParaRPr>
          </a:p>
        </p:txBody>
      </p:sp>
      <p:cxnSp>
        <p:nvCxnSpPr>
          <p:cNvPr id="72" name="Google Shape;72;p14"/>
          <p:cNvCxnSpPr>
            <a:stCxn id="69" idx="3"/>
          </p:cNvCxnSpPr>
          <p:nvPr/>
        </p:nvCxnSpPr>
        <p:spPr>
          <a:xfrm>
            <a:off x="6171788" y="4422231"/>
            <a:ext cx="1840200" cy="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4"/>
          <p:cNvCxnSpPr>
            <a:stCxn id="69" idx="1"/>
            <a:endCxn id="71" idx="3"/>
          </p:cNvCxnSpPr>
          <p:nvPr/>
        </p:nvCxnSpPr>
        <p:spPr>
          <a:xfrm flipH="1">
            <a:off x="3450788" y="4422231"/>
            <a:ext cx="1713900" cy="3600"/>
          </a:xfrm>
          <a:prstGeom prst="straightConnector1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74;p14"/>
          <p:cNvSpPr/>
          <p:nvPr/>
        </p:nvSpPr>
        <p:spPr>
          <a:xfrm>
            <a:off x="7051283" y="1343698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Omar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Owner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5805388" y="1377609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Deanna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Director of Operations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3564900" y="1516048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Carter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Exec. Chef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7051283" y="2839868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Gilly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717600" y="2833457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Alex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GM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717600" y="3867039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Zane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North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7152171" y="3857623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Larissa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Kitchen Manager - Downtown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6509445" y="3384283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Seydou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Restaurant Consultant</a:t>
            </a:r>
            <a:endParaRPr sz="600" b="1">
              <a:solidFill>
                <a:srgbClr val="FFFFFF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4948738" y="4529725"/>
            <a:ext cx="136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Interest</a:t>
            </a:r>
            <a:endParaRPr sz="1600">
              <a:solidFill>
                <a:srgbClr val="434343"/>
              </a:solidFill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215500" y="2247775"/>
            <a:ext cx="621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med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3704362" y="3260853"/>
            <a:ext cx="1007100" cy="3447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</a:rPr>
              <a:t>Nia</a:t>
            </a:r>
            <a:endParaRPr sz="900" b="1">
              <a:solidFill>
                <a:srgbClr val="FFFFFF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</a:rPr>
              <a:t>General Manager - Waterfront</a:t>
            </a:r>
            <a:endParaRPr sz="6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Microsoft Office PowerPoint</Application>
  <PresentationFormat>On-screen Show (16:9)</PresentationFormat>
  <Paragraphs>86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Roboto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Pranjal Singh</dc:creator>
  <cp:lastModifiedBy>Pranjal Singh</cp:lastModifiedBy>
  <cp:revision>1</cp:revision>
  <dcterms:modified xsi:type="dcterms:W3CDTF">2026-07-31T11:24:55Z</dcterms:modified>
</cp:coreProperties>
</file>